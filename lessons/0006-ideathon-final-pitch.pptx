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E8E96"/>
                </a:solidFill>
              </a:defRPr>
            </a:pPr>
            <a:r>
              <a:t>AI Ideathon 2026  ·  Finals  ·  4 min + 3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5F5F4"/>
                </a:solidFill>
              </a:defRPr>
            </a:pPr>
            <a:r>
              <a:t>aiand/auto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8E8E96"/>
                </a:solidFill>
              </a:defRPr>
            </a:pPr>
            <a:r>
              <a:t>Cheapest aiand model per agent hop</a:t>
            </a:r>
            <a:br/>
            <a:r>
              <a:t>that still clears your quality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2613C"/>
                </a:solidFill>
              </a:defRPr>
            </a:pPr>
            <a:r>
              <a:t>model: router/auto   ·   OpenAI-compatible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E8E96"/>
                </a:solidFill>
              </a:defRPr>
            </a:pPr>
            <a:r>
              <a:t>Drop-in for OpenCode · Cursor · Claude Code · any OpenAI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~0:00–0:45  ·  Problem fit 25%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977639" cy="1828800"/>
          </a:xfrm>
          <a:prstGeom prst="rect">
            <a:avLst/>
          </a:prstGeom>
          <a:solidFill>
            <a:srgbClr val="160A0E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7033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5F4"/>
                </a:solidFill>
              </a:defRPr>
            </a:pPr>
            <a:r>
              <a:t>Always K3 / frontier</a:t>
            </a:r>
          </a:p>
          <a:p>
            <a:pPr>
              <a:spcAft>
                <a:spcPts val="800"/>
              </a:spcAft>
              <a:defRPr sz="1400">
                <a:solidFill>
                  <a:srgbClr val="F5F5F4"/>
                </a:solidFill>
              </a:defRPr>
            </a:pPr>
            <a:r>
              <a:t>Burns $ on trivial greps</a:t>
            </a:r>
          </a:p>
          <a:p>
            <a:pPr>
              <a:spcAft>
                <a:spcPts val="800"/>
              </a:spcAft>
              <a:defRPr sz="1400">
                <a:solidFill>
                  <a:srgbClr val="F5F5F4"/>
                </a:solidFill>
              </a:defRPr>
            </a:pPr>
            <a:r>
              <a:t>Budget dies mid-session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25880"/>
            <a:ext cx="3977639" cy="1828800"/>
          </a:xfrm>
          <a:prstGeom prst="rect">
            <a:avLst/>
          </a:prstGeom>
          <a:solidFill>
            <a:srgbClr val="160A0E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417320"/>
            <a:ext cx="37033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5F5F4"/>
                </a:solidFill>
              </a:defRPr>
            </a:pPr>
            <a:r>
              <a:t>Always Flash</a:t>
            </a:r>
          </a:p>
          <a:p>
            <a:pPr>
              <a:spcAft>
                <a:spcPts val="800"/>
              </a:spcAft>
              <a:defRPr sz="1400">
                <a:solidFill>
                  <a:srgbClr val="F5F5F4"/>
                </a:solidFill>
              </a:defRPr>
            </a:pPr>
            <a:r>
              <a:t>Fails hard refactors / debug</a:t>
            </a:r>
          </a:p>
          <a:p>
            <a:pPr>
              <a:spcAft>
                <a:spcPts val="800"/>
              </a:spcAft>
              <a:defRPr sz="1400">
                <a:solidFill>
                  <a:srgbClr val="F5F5F4"/>
                </a:solidFill>
              </a:defRPr>
            </a:pPr>
            <a:r>
              <a:t>Humans re-run broken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5F4"/>
                </a:solidFill>
              </a:defRPr>
            </a:pPr>
            <a:r>
              <a:t>Who feels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8138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5F4"/>
                </a:solidFill>
              </a:defRPr>
            </a:pPr>
            <a:r>
              <a:t>Teams on OpenCode / Cursor / Claude Code × multi-model catalogs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Agents make dozens of hops per session — not one call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Impact: $ per session + fewer wasted human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Solution &amp; why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~0:45–1:30  ·  Innovation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5F4"/>
                </a:solidFill>
              </a:defRPr>
            </a:pPr>
            <a:r>
              <a:t>aiand/auto — OpenAI gateway · model: router/auto</a:t>
            </a:r>
          </a:p>
          <a:p>
            <a:pPr>
              <a:spcAft>
                <a:spcPts val="800"/>
              </a:spcAft>
              <a:defRPr sz="1600">
                <a:solidFill>
                  <a:srgbClr val="F5F5F4"/>
                </a:solidFill>
              </a:defRPr>
            </a:pPr>
            <a:r>
              <a:t>Each hop: filter ineligible → cheapest that clears quality bar</a:t>
            </a:r>
          </a:p>
          <a:p>
            <a:pPr>
              <a:spcAft>
                <a:spcPts val="800"/>
              </a:spcAft>
              <a:defRPr sz="1600">
                <a:solidFill>
                  <a:srgbClr val="F5F5F4"/>
                </a:solidFill>
              </a:defRPr>
            </a:pPr>
            <a:r>
              <a:t>Not static if phase=edit → Model 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8138160" cy="1828800"/>
          </a:xfrm>
          <a:prstGeom prst="rect">
            <a:avLst/>
          </a:prstGeom>
          <a:solidFill>
            <a:srgbClr val="160A0E"/>
          </a:solidFill>
          <a:ln w="9525">
            <a:solidFill>
              <a:srgbClr val="F2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613C"/>
                </a:solidFill>
              </a:defRPr>
            </a:pPr>
            <a:r>
              <a:t>Purposeful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5F4"/>
                </a:solidFill>
              </a:defRPr>
            </a:pPr>
            <a:r>
              <a:t>Offline: teacher labels → gold on real aiand → fit Scorer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Live: tiny student in ms — no LLM on the routing hop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Better picks without taxing latency or cost of the route itself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Live demo — one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~1:30–2:45  ·  Demo 15%  ·  checklist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613C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5F4"/>
                </a:solidFill>
              </a:defRPr>
            </a:pPr>
            <a:r>
              <a:t>User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80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E8E96"/>
                </a:solidFill>
              </a:defRPr>
            </a:pPr>
            <a:r>
              <a:t>Cheap hop that still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613C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5F4"/>
                </a:solidFill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E8E96"/>
                </a:solidFill>
              </a:defRPr>
            </a:pPr>
            <a:r>
              <a:t>Playground (or OpenCode) → router/auto +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613C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5F4"/>
                </a:solidFill>
              </a:defRPr>
            </a:pPr>
            <a:r>
              <a:t>Show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E8E96"/>
                </a:solidFill>
              </a:defRPr>
            </a:pPr>
            <a:r>
              <a:t>Chosen model · reason / score ·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613C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5F4"/>
                </a:solidFill>
              </a:defRPr>
            </a:pPr>
            <a: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889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E8E96"/>
                </a:solidFill>
              </a:defRPr>
            </a:pPr>
            <a:r>
              <a:t>Dashboard: mix + savings vs expensive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8138160" cy="1280160"/>
          </a:xfrm>
          <a:prstGeom prst="rect">
            <a:avLst/>
          </a:prstGeom>
          <a:solidFill>
            <a:srgbClr val="160A0E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86EFAC"/>
                </a:solidFill>
              </a:defRPr>
            </a:pPr>
            <a:r>
              <a:t>Pre-open tabs · skip login / keys / menus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8E8E96"/>
                </a:solidFill>
              </a:defRPr>
            </a:pPr>
            <a:r>
              <a:t>Tabs: playground + /routers/auto</a:t>
            </a:r>
          </a:p>
          <a:p>
            <a:pPr>
              <a:spcAft>
                <a:spcPts val="800"/>
              </a:spcAft>
              <a:defRPr sz="1400">
                <a:solidFill>
                  <a:srgbClr val="8E8E96"/>
                </a:solidFill>
              </a:defRPr>
            </a:pPr>
            <a:r>
              <a:t>Optional 5s landing simulator = vision/preview only — then live 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How routing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~2:45–3:10  ·  Technical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Rules path (router.py)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F5F5F4"/>
                </a:solidFill>
              </a:defRPr>
            </a:pPr>
            <a:r>
              <a:t>Hard constraints → phase bar</a:t>
            </a:r>
          </a:p>
          <a:p>
            <a:pPr>
              <a:spcAft>
                <a:spcPts val="800"/>
              </a:spcAft>
              <a:defRPr sz="1300">
                <a:solidFill>
                  <a:srgbClr val="F5F5F4"/>
                </a:solidFill>
              </a:defRPr>
            </a:pPr>
            <a:r>
              <a:t>Then Pioneer / cheap / 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Trained Scorer (scorer.py)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F5F5F4"/>
                </a:solidFill>
              </a:defRPr>
            </a:pPr>
            <a:r>
              <a:t>Complexity bin → P(success)</a:t>
            </a:r>
          </a:p>
          <a:p>
            <a:pPr>
              <a:spcAft>
                <a:spcPts val="800"/>
              </a:spcAft>
              <a:defRPr sz="1300">
                <a:solidFill>
                  <a:srgbClr val="F5F5F4"/>
                </a:solidFill>
              </a:defRPr>
            </a:pPr>
            <a:r>
              <a:t>Cheapest-above-bar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Pioneer ≈ 0.40·P(success) + 0.20·capability + tools/latency/health −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5F4"/>
                </a:solidFill>
              </a:defRPr>
            </a:pPr>
            <a:r>
              <a:t>Offline pipeline (train.py)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146304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5F4"/>
                </a:solidFill>
              </a:defRPr>
            </a:pPr>
            <a: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E8E96"/>
                </a:solidFill>
              </a:defRPr>
            </a:pPr>
            <a:r>
              <a:t>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3383280"/>
            <a:ext cx="146304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34290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5F4"/>
                </a:solidFill>
              </a:defRPr>
            </a:pPr>
            <a: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703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E8E96"/>
                </a:solidFill>
              </a:defRPr>
            </a:pPr>
            <a:r>
              <a:t>real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383280"/>
            <a:ext cx="146304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4290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5F4"/>
                </a:solidFill>
              </a:defRPr>
            </a:pPr>
            <a:r>
              <a:t>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03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E8E96"/>
                </a:solidFill>
              </a:defRPr>
            </a:pPr>
            <a:r>
              <a:t>calibrate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383280"/>
            <a:ext cx="146304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4290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5F4"/>
                </a:solidFill>
              </a:defRPr>
            </a:pPr>
            <a:r>
              <a:t>Shadow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03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E8E96"/>
                </a:solidFill>
              </a:defRPr>
            </a:pPr>
            <a:r>
              <a:t>compare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383280"/>
            <a:ext cx="146304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4290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5F4"/>
                </a:solidFill>
              </a:defRPr>
            </a:pPr>
            <a:r>
              <a:t>Flip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03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E8E96"/>
                </a:solidFill>
              </a:defRPr>
            </a:pPr>
            <a:r>
              <a:t>gated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6EFAC"/>
                </a:solidFill>
              </a:defRPr>
            </a:pPr>
            <a:r>
              <a:t>Hot path: in-process Scorer · no teacher LLM · target &lt;10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How good is it — SAFE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Do not invent global savings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34440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9 aiand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Train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81912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2000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9384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scorer.json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29384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n_gold=1600 · n_silver=1000 · n_cal=800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7685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Artifact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7685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not_spec_floors  —  not SWE-bench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24327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Process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24327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≈ $8.16 (soft spend.txt)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71799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71799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213 pytest · CI FakeProvider never spends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1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613C"/>
                </a:solidFill>
              </a:defRPr>
            </a:pPr>
            <a:r>
              <a:t>Savings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19271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5F5F4"/>
                </a:solidFill>
              </a:defRPr>
            </a:pPr>
            <a:r>
              <a:t>vs most_expensive_eligible per 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404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E8E96"/>
                </a:solidFill>
              </a:defRPr>
            </a:pPr>
            <a:r>
              <a:t>Honesty: rules are solid live; trained flips after operator gate.</a:t>
            </a:r>
            <a:br/>
            <a:r>
              <a:t>Landing 62% / 40–60% / hero % = vision/preview — not Verified wins.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Say the boxes in ~15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1554480" cy="91440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645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5F4"/>
                </a:solidFill>
              </a:defRPr>
            </a:pPr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0116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E8E96"/>
                </a:solidFill>
              </a:defRPr>
            </a:pPr>
            <a:r>
              <a:t>OpenCode /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7830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554480"/>
            <a:ext cx="1554480" cy="91440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1645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5F4"/>
                </a:solidFill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20116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E8E96"/>
                </a:solidFill>
              </a:defRPr>
            </a:pPr>
            <a:r>
              <a:t>/v1/chat/completions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554480"/>
            <a:ext cx="1554480" cy="91440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645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5F4"/>
                </a:solidFill>
              </a:defRPr>
            </a:pPr>
            <a:r>
              <a:t>Rules+Scorer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116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E8E96"/>
                </a:solidFill>
              </a:defRPr>
            </a:pPr>
            <a:r>
              <a:t>router + scorer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7830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554480"/>
            <a:ext cx="1554480" cy="91440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645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5F4"/>
                </a:solidFill>
              </a:defRPr>
            </a:pPr>
            <a:r>
              <a:t>aiand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0116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E8E96"/>
                </a:solidFill>
              </a:defRPr>
            </a:pPr>
            <a:r>
              <a:t>9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7830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554480"/>
            <a:ext cx="1554480" cy="91440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645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5F4"/>
                </a:solidFill>
              </a:defRPr>
            </a:pPr>
            <a:r>
              <a:t>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0116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E8E96"/>
                </a:solidFill>
              </a:defRPr>
            </a:pPr>
            <a:r>
              <a:t>requests.jsonl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926080"/>
            <a:ext cx="8138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5F4"/>
                </a:solidFill>
              </a:defRPr>
            </a:pPr>
            <a:r>
              <a:t>Backend: FastAPI OpenAI-compatible proxy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Frontend: Next.js landing · dashboard · playground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Data: YAML catalog · scorer.json · JSONL telemetry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Feasibility proof: 213 tests · no spend in 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Potential &amp;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~3:25–4:00  ·  Product potential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5F4"/>
                </a:solidFill>
              </a:defRPr>
            </a:pPr>
            <a:r>
              <a:t>Users: teams &amp; agent platforms already on OpenAI APIs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Adoption = baseURL change — no harness rewrite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Scale: add models in YAML → retrain offline → shadow → flip</a:t>
            </a:r>
          </a:p>
          <a:p>
            <a:pPr>
              <a:spcAft>
                <a:spcPts val="800"/>
              </a:spcAft>
              <a:defRPr sz="1500">
                <a:solidFill>
                  <a:srgbClr val="F5F5F4"/>
                </a:solidFill>
              </a:defRPr>
            </a:pPr>
            <a:r>
              <a:t>Next: promote after gates · SWE-bench Verified bar · SaaS / aiand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00400"/>
            <a:ext cx="8138160" cy="1371600"/>
          </a:xfrm>
          <a:prstGeom prst="rect">
            <a:avLst/>
          </a:prstGeom>
          <a:solidFill>
            <a:srgbClr val="160A0E"/>
          </a:solidFill>
          <a:ln w="9525">
            <a:solidFill>
              <a:srgbClr val="F2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Closing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Agents will keep multiplying model calls. aiand/auto makes every hop</a:t>
            </a:r>
            <a:br/>
            <a:r>
              <a:t>cost-aware without rewriting the agent — and we can prove each pick in the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BACKUP · Q&amp;A — how / functional / vs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≤25s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How does the AI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Teacher offline → gold real runs → fit · live scores in ms · no teacher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Is it functional?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Yes — live rules · playground + dashboard · Scorer from JSON · 213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vs rule routers / OpenRouter?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0156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Per-request P(success) + cheapest-above-bar · telemetry · shadow before flip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BACKUP · Q&amp;A — limits / scale /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≤25s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Limitations?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Smoke fit is not_spec_floors · Verified promotion still future · landing % =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Scale / business?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Drop-in endpoint · per-hop FinOps log · teams + platforms · managed SaaS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Data / spend?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0156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2000 queries · ~1600/1000/800 gold/silver/cal · soft spend ≈ $8 · CI never spends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5F4"/>
                </a:solidFill>
              </a:defRPr>
            </a:pPr>
            <a:r>
              <a:t>BACKUP · clock &amp; judging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51560" cy="50292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Keep in your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0:00–0:45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2801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0:45–1:30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Solution &amp;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1:30–2:45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Demo (one journey)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945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2:45–3:25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51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Technical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3:25–4:00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108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Potential &amp;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66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613C"/>
                </a:solidFill>
              </a:defRPr>
            </a:pPr>
            <a:r>
              <a:t>+3:00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566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5F4"/>
                </a:solidFill>
              </a:defRPr>
            </a:pPr>
            <a:r>
              <a:t>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5661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E8E96"/>
                </a:solidFill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6EFAC"/>
                </a:solidFill>
              </a:defRPr>
            </a:pPr>
            <a:r>
              <a:t>If long: cut jargon first — never cut demo or closing.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