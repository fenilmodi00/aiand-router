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8E8E96"/>
                </a:solidFill>
              </a:defRPr>
            </a:pPr>
            <a:r>
              <a:t>OpenAI-compatible  ·  Coding agents  ·  Cost-aware routing  ·  ML-trained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5F5F4"/>
                </a:solidFill>
              </a:defRPr>
            </a:pPr>
            <a:r>
              <a:t>aiand/auto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8E8E96"/>
                </a:solidFill>
              </a:defRPr>
            </a:pPr>
            <a:r>
              <a:t>A smart inference router that picks the cheapest aiand model</a:t>
            </a:r>
            <a:br/>
            <a:r>
              <a:t>per coding-agent step — without breaking hard 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8E8E96"/>
                </a:solidFill>
              </a:defRPr>
            </a:pPr>
            <a:r>
              <a:t>Hackathon submission · Round One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F5F5F4"/>
                </a:solidFill>
              </a:defRPr>
            </a:pPr>
            <a:r>
              <a:t>One endpoint: model: router/auto</a:t>
            </a:r>
            <a:br/>
            <a:r>
              <a:t>Drop-in for OpenCode, Cursor, Claude Code, and any OpenAI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5F5F4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Problem fit &amp; 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5F5F4"/>
                </a:solidFill>
              </a:defRPr>
            </a:pPr>
            <a:r>
              <a:t>AI coding agents run dozens of inference hops per session. Teams face a painful trade-off: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3977639" cy="1508760"/>
          </a:xfrm>
          <a:prstGeom prst="rect">
            <a:avLst/>
          </a:prstGeom>
          <a:solidFill>
            <a:srgbClr val="160A0E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F5F5F4"/>
                </a:solidFill>
              </a:defRPr>
            </a:pPr>
            <a:r>
              <a:t>Every step hits frontier models (Kimi K3, GLM-5)</a:t>
            </a:r>
          </a:p>
          <a:p>
            <a:pPr>
              <a:spcAft>
                <a:spcPts val="400"/>
              </a:spcAft>
              <a:defRPr sz="1000">
                <a:solidFill>
                  <a:srgbClr val="F5F5F4"/>
                </a:solidFill>
              </a:defRPr>
            </a:pPr>
            <a:r>
              <a:t>Simple steps cost 10–40× more than needed</a:t>
            </a:r>
          </a:p>
          <a:p>
            <a:pPr>
              <a:spcAft>
                <a:spcPts val="400"/>
              </a:spcAft>
              <a:defRPr sz="1000">
                <a:solidFill>
                  <a:srgbClr val="F5F5F4"/>
                </a:solidFill>
              </a:defRPr>
            </a:pPr>
            <a:r>
              <a:t>Budget caps stop agents mid-task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874519"/>
            <a:ext cx="3977639" cy="1508760"/>
          </a:xfrm>
          <a:prstGeom prst="rect">
            <a:avLst/>
          </a:prstGeom>
          <a:solidFill>
            <a:srgbClr val="160A0E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965960"/>
            <a:ext cx="3703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F5F5F4"/>
                </a:solidFill>
              </a:defRPr>
            </a:pPr>
            <a:r>
              <a:t>Flash on everything fails multi-file refactors</a:t>
            </a:r>
          </a:p>
          <a:p>
            <a:pPr>
              <a:spcAft>
                <a:spcPts val="400"/>
              </a:spcAft>
              <a:defRPr sz="1000">
                <a:solidFill>
                  <a:srgbClr val="F5F5F4"/>
                </a:solidFill>
              </a:defRPr>
            </a:pPr>
            <a:r>
              <a:t>Tool-call accuracy drops on hard debug steps</a:t>
            </a:r>
          </a:p>
          <a:p>
            <a:pPr>
              <a:spcAft>
                <a:spcPts val="400"/>
              </a:spcAft>
              <a:defRPr sz="1000">
                <a:solidFill>
                  <a:srgbClr val="F5F5F4"/>
                </a:solidFill>
              </a:defRPr>
            </a:pPr>
            <a:r>
              <a:t>Human time lost re-running failed agent loops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0440"/>
            <a:ext cx="8138160" cy="685800"/>
          </a:xfrm>
          <a:prstGeom prst="rect">
            <a:avLst/>
          </a:prstGeom>
          <a:solidFill>
            <a:srgbClr val="160A0E"/>
          </a:solidFill>
          <a:ln w="9525">
            <a:solidFill>
              <a:srgbClr val="F26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7863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5F5F4"/>
                </a:solidFill>
              </a:defRPr>
            </a:pPr>
            <a:r>
              <a:t>Who feels this? Engineering teams running OpenCode / Cursor agents against multi-model catalogs. Spend is measurable in dollars per session; quality in tests-passed and patch-applied.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5F5F4"/>
                </a:solidFill>
              </a:defRPr>
            </a:pPr>
            <a:r>
              <a:t>Our solution in one sentence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17720"/>
            <a:ext cx="8138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E8E96"/>
                </a:solidFill>
              </a:defRPr>
            </a:pPr>
            <a:r>
              <a:t>aiand/auto sits between the agent and aiand as an OpenAI-compatible gateway. Each request carries phase context (x-agent-phase) and effort tier (x-routing-effort). The router filters ineligible models, scores survivors, and picks the cheapest model that clears your quality 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5F5F4"/>
                </a:solidFill>
              </a:defRPr>
            </a:pPr>
            <a: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Functional prototype — backend, frontend, ML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965960" cy="64008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OpenCode /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2613C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325880"/>
            <a:ext cx="1965960" cy="64008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37160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60020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FastAPI /v1/chat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463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2613C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325880"/>
            <a:ext cx="1965960" cy="64008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37160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60020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Rules + shadow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63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2613C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1325880"/>
            <a:ext cx="1965960" cy="64008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37160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aiand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600200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9-model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148840"/>
            <a:ext cx="3931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Backend (Python · FastAPI)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77440"/>
            <a:ext cx="3931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8E8E96"/>
                </a:solidFill>
              </a:defRPr>
            </a:pPr>
            <a:r>
              <a:t>OpenAI-compatible proxy — streaming, tools, JSON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Pioneer scoring formula on eligible models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Hard constraints: tools, context, budget, latency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Telemetry: data/requests.jsonl + /replay UI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Eval harness vs premium / Kimi / adaptive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70 automated tests — CI never spends credits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148840"/>
            <a:ext cx="3931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Frontend (Next.js)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377440"/>
            <a:ext cx="3931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8E8E96"/>
                </a:solidFill>
              </a:defRPr>
            </a:pPr>
            <a:r>
              <a:t>Landing — simulator, ROI calculator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Dashboard /routers/auto — savings, mix chart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Playground — live router/auto chat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Keys &amp; usage — spend from request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77639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ML pipeline (opt-in, budget-capped)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1508760" cy="50292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7939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5F4"/>
                </a:solidFill>
              </a:defRPr>
            </a:pPr>
            <a:r>
              <a:t>Teacher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6227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8E8E96"/>
                </a:solidFill>
              </a:defRPr>
            </a:pPr>
            <a:r>
              <a:t>P(success) labels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4251960"/>
            <a:ext cx="1508760" cy="50292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39" y="427939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5F4"/>
                </a:solidFill>
              </a:defRPr>
            </a:pPr>
            <a:r>
              <a:t>Gold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39" y="446227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8E8E96"/>
                </a:solidFill>
              </a:defRPr>
            </a:pPr>
            <a:r>
              <a:t>Measured trio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4251960"/>
            <a:ext cx="1508760" cy="50292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39" y="427939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5F4"/>
                </a:solidFill>
              </a:defRPr>
            </a:pPr>
            <a:r>
              <a:t>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446227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8E8E96"/>
                </a:solidFill>
              </a:defRPr>
            </a:pPr>
            <a:r>
              <a:t>Platt calibration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4251960"/>
            <a:ext cx="1508760" cy="50292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427939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5F4"/>
                </a:solidFill>
              </a:defRPr>
            </a:pPr>
            <a:r>
              <a:t>Shadow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46227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8E8E96"/>
                </a:solidFill>
              </a:defRPr>
            </a:pPr>
            <a:r>
              <a:t>Log would-pick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4251960"/>
            <a:ext cx="1508760" cy="502920"/>
          </a:xfrm>
          <a:prstGeom prst="rect">
            <a:avLst/>
          </a:prstGeom>
          <a:solidFill>
            <a:srgbClr val="160A0E"/>
          </a:solidFill>
          <a:ln w="9525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427939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5F5F4"/>
                </a:solidFill>
              </a:defRPr>
            </a:pPr>
            <a:r>
              <a:t>Trained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46227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8E8E96"/>
                </a:solidFill>
              </a:defRPr>
            </a:pPr>
            <a:r>
              <a:t>Flip when sane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892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2613C"/>
                </a:solidFill>
              </a:defRPr>
            </a:pPr>
            <a:r>
              <a:t>Round One honesty: Live requests use the rules path. Trained routing runs in TRAINED_PATH=shadow — records X-Router-Trained-Would without changing the client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5F5F4"/>
                </a:solidFill>
              </a:defRPr>
            </a:pPr>
            <a:r>
              <a:t>Why We Beat Rule-Based Routers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Innovation &amp; purposeful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977639" cy="2148840"/>
          </a:xfrm>
          <a:prstGeom prst="rect">
            <a:avLst/>
          </a:prstGeom>
          <a:solidFill>
            <a:srgbClr val="160A0E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703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8E8E96"/>
                </a:solidFill>
              </a:defRPr>
            </a:pPr>
            <a:r>
              <a:t>Hand-tuned if-else: if phase=edit → Model X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Static AA benchmarks, not your trajectories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Same bar for typo fix and 12-file migration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New model = retune dozens of thresholds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Uncalibrated confidence — no real success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25880"/>
            <a:ext cx="3977639" cy="2148840"/>
          </a:xfrm>
          <a:prstGeom prst="rect">
            <a:avLst/>
          </a:prstGeom>
          <a:solidFill>
            <a:srgbClr val="160A0E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417320"/>
            <a:ext cx="3703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8E8E96"/>
                </a:solidFill>
              </a:defRPr>
            </a:pPr>
            <a:r>
              <a:t>Per-request P(success) from phase, tokens, tools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Cheapest-above-bar + effort tiers + max-regret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Complexity bins: trivial / standard / hard / frontier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Platt calibration on gold completions (ECE ≤ 0.03)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&lt;10 ms in-process scorer — no LLM on hot path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Graceful fallback: scorer_down →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Three product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613C"/>
                </a:solidFill>
              </a:defRPr>
            </a:pPr>
            <a:r>
              <a:t>01 · Score every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886200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P(success) in &lt;10 ms; no slow teacher on hot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7880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613C"/>
                </a:solidFill>
              </a:defRPr>
            </a:pPr>
            <a:r>
              <a:t>02 · Clear confidence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178808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4 effort tiers; regret-bounded pool; dynamic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71416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613C"/>
                </a:solidFill>
              </a:defRPr>
            </a:pPr>
            <a:r>
              <a:t>03 · One universal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471416"/>
            <a:ext cx="5394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Drop-in /v1/chat/completions; X-Router-Model headers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00600"/>
            <a:ext cx="8138160" cy="502920"/>
          </a:xfrm>
          <a:prstGeom prst="rect">
            <a:avLst/>
          </a:prstGeom>
          <a:solidFill>
            <a:srgbClr val="160A0E"/>
          </a:solidFill>
          <a:ln w="9525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64608"/>
            <a:ext cx="7863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5F5F4"/>
                </a:solidFill>
              </a:defRPr>
            </a:pPr>
            <a:r>
              <a:t>AI used purposefully: Teacher models label offline data; a tiny student classifier serves live traffic. No LLM call on every routing decision.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5F5F4"/>
                </a:solidFill>
              </a:defRPr>
            </a:pPr>
            <a:r>
              <a:t>Product Potential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Scalability beyond the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Target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8138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8E8E96"/>
                </a:solidFill>
              </a:defRPr>
            </a:pPr>
            <a:r>
              <a:t>Platform teams — offer router/auto as managed endpoint on aiand</a:t>
            </a:r>
          </a:p>
          <a:p>
            <a:pPr>
              <a:spcAft>
                <a:spcPts val="400"/>
              </a:spcAft>
              <a:defRPr sz="1000">
                <a:solidFill>
                  <a:srgbClr val="8E8E96"/>
                </a:solidFill>
              </a:defRPr>
            </a:pPr>
            <a:r>
              <a:t>Agent builders — OpenCode / Cursor shops wanting cost control</a:t>
            </a:r>
          </a:p>
          <a:p>
            <a:pPr>
              <a:spcAft>
                <a:spcPts val="400"/>
              </a:spcAft>
              <a:defRPr sz="1000">
                <a:solidFill>
                  <a:srgbClr val="8E8E96"/>
                </a:solidFill>
              </a:defRPr>
            </a:pPr>
            <a:r>
              <a:t>FinOps / eng leads — dashboard proves savings with auditable JSONL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Near-term (post-hackathon)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613C"/>
                </a:solidFill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7223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Rules live · shadow logging · dashboard + playground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98648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613C"/>
                </a:solidFill>
              </a:defRPr>
            </a:pPr>
            <a: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98648"/>
            <a:ext cx="7223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Smoke fit (teacher → gold → fit) · watch shadow vs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91256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613C"/>
                </a:solidFill>
              </a:defRPr>
            </a:pPr>
            <a:r>
              <a:t>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91256"/>
            <a:ext cx="7223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TRAINED_PATH=trained when shadow savings 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83863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2613C"/>
                </a:solidFill>
              </a:defRPr>
            </a:pPr>
            <a:r>
              <a:t>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83863"/>
            <a:ext cx="7223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SWE-bench Verified before production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94760"/>
            <a:ext cx="3931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Commercialization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8E8E96"/>
                </a:solidFill>
              </a:defRPr>
            </a:pPr>
            <a:r>
              <a:t>SaaS router with per-org retraining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aiand partnership as default routing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Usage-based pricing on measured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794760"/>
            <a:ext cx="3931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Technical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41648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8E8E96"/>
                </a:solidFill>
              </a:defRPr>
            </a:pPr>
            <a:r>
              <a:t>Multi-tenant gateway · production topology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Retrain cadence on request cache</a:t>
            </a:r>
          </a:p>
          <a:p>
            <a:pPr>
              <a:spcAft>
                <a:spcPts val="400"/>
              </a:spcAft>
              <a:defRPr sz="900">
                <a:solidFill>
                  <a:srgbClr val="8E8E96"/>
                </a:solidFill>
              </a:defRPr>
            </a:pPr>
            <a:r>
              <a:t>Redaction + spend caps for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8348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8E8E96"/>
                </a:solidFill>
              </a:defRPr>
            </a:pPr>
            <a:r>
              <a:t>We never invent savings % — logged savings are vs most_expensive_eligible on each request.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5F5F4"/>
                </a:solidFill>
              </a:defRPr>
            </a:pPr>
            <a:r>
              <a:t>Demo Guide &amp; Evaluation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97280" cy="54864"/>
          </a:xfrm>
          <a:prstGeom prst="rect">
            <a:avLst/>
          </a:prstGeom>
          <a:solidFill>
            <a:srgbClr val="F26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E8E96"/>
                </a:solidFill>
              </a:defRPr>
            </a:pPr>
            <a:r>
              <a:t>How to present · how judges should read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5-minute live 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613C"/>
                </a:solidFill>
              </a:defRPr>
            </a:pPr>
            <a:r>
              <a:t>1 ·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3619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E8E96"/>
                </a:solidFill>
              </a:defRPr>
            </a:pPr>
            <a:r>
              <a:t>Title / 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36192"/>
            <a:ext cx="5120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5F5F4"/>
                </a:solidFill>
              </a:defRPr>
            </a:pPr>
            <a:r>
              <a:t>Problem → one endpoint → aiand/auto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613C"/>
                </a:solidFill>
              </a:defRPr>
            </a:pPr>
            <a:r>
              <a:t>2 · Landing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5564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E8E96"/>
                </a:solidFill>
              </a:defRPr>
            </a:pPr>
            <a:r>
              <a:t>localhost:3000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55648"/>
            <a:ext cx="5120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5F5F4"/>
                </a:solidFill>
              </a:defRPr>
            </a:pPr>
            <a:r>
              <a:t>Hero · 3 pillars · 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75104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613C"/>
                </a:solidFill>
              </a:defRPr>
            </a:pPr>
            <a:r>
              <a:t>3 ·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975104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E8E96"/>
                </a:solidFill>
              </a:defRPr>
            </a:pPr>
            <a:r>
              <a:t>/routers/auto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75104"/>
            <a:ext cx="5120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5F5F4"/>
                </a:solidFill>
              </a:defRPr>
            </a:pPr>
            <a:r>
              <a:t>Savings · mix chart · inference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613C"/>
                </a:solidFill>
              </a:defRPr>
            </a:pPr>
            <a:r>
              <a:t>4 · Playground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19456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E8E96"/>
                </a:solidFill>
              </a:defRPr>
            </a:pPr>
            <a:r>
              <a:t>/playground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94560"/>
            <a:ext cx="5120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5F5F4"/>
                </a:solidFill>
              </a:defRPr>
            </a:pPr>
            <a:r>
              <a:t>Live message · X-Router-Model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414016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613C"/>
                </a:solidFill>
              </a:defRPr>
            </a:pPr>
            <a:r>
              <a:t>5 · 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41401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E8E96"/>
                </a:solidFill>
              </a:defRPr>
            </a:pPr>
            <a: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14016"/>
            <a:ext cx="5120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F5F5F4"/>
                </a:solidFill>
              </a:defRPr>
            </a:pPr>
            <a:r>
              <a:t>Shadow → trained · SWE-bench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9748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5F5F4"/>
                </a:solidFill>
              </a:defRPr>
            </a:pPr>
            <a:r>
              <a:t>How we map to judging criteria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36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613C"/>
                </a:solidFill>
              </a:defRPr>
            </a:pPr>
            <a:r>
              <a:t>Problem fit &amp; impact (25%)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94436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E8E96"/>
                </a:solidFill>
              </a:defRPr>
            </a:pPr>
            <a:r>
              <a:t>Agent cost/quality trade-off; measurable JSONL spend; real catalog prices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918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613C"/>
                </a:solidFill>
              </a:defRPr>
            </a:pPr>
            <a:r>
              <a:t>Innovation &amp; idea quality (20%)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918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E8E96"/>
                </a:solidFill>
              </a:defRPr>
            </a:pPr>
            <a:r>
              <a:t>Student-teacher + cheapest-above-bar; AI offline not on hot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393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613C"/>
                </a:solidFill>
              </a:defRPr>
            </a:pPr>
            <a:r>
              <a:t>Technical implementation (20%)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639312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E8E96"/>
                </a:solidFill>
              </a:defRPr>
            </a:pPr>
            <a:r>
              <a:t>Gateway + dashboard + 70 tests; shadow/trained/scorer_down paths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98678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613C"/>
                </a:solidFill>
              </a:defRPr>
            </a:pPr>
            <a:r>
              <a:t>Product potential (20%)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986784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E8E96"/>
                </a:solidFill>
              </a:defRPr>
            </a:pPr>
            <a:r>
              <a:t>Drop-in endpoint; clear users; managed service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33425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F2613C"/>
                </a:solidFill>
              </a:defRPr>
            </a:pPr>
            <a:r>
              <a:t>Demo &amp; presentation (15%)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334256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E8E96"/>
                </a:solidFill>
              </a:defRPr>
            </a:pPr>
            <a:r>
              <a:t>Landing + dashboard + playground in &lt;3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754880"/>
            <a:ext cx="8138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5F5F4"/>
                </a:solidFill>
              </a:defRPr>
            </a:pPr>
            <a:r>
              <a:t>One-line pitch: “I built aiand/auto — an OpenAI-compatible router that picks the cheapest aiand model for each coding-agent step, with a landing page, live dashboard, and trained-ML path ready to flip on.”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